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836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4F27ED91-A10A-400B-8A9A-423B5E59537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0D2EB7A-53F3-4B9A-8BDB-EBC06E372491}" type="datetimeFigureOut">
              <a:rPr lang="en-US" smtClean="0"/>
              <a:t>7/28/2026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543800" cy="688975"/>
          </a:xfrm>
        </p:spPr>
        <p:txBody>
          <a:bodyPr/>
          <a:lstStyle/>
          <a:p>
            <a:pPr algn="ctr"/>
            <a:r>
              <a:rPr lang="en-US" sz="5000" dirty="0" err="1" smtClean="0"/>
              <a:t>BookWorm</a:t>
            </a:r>
            <a:endParaRPr lang="en-US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676400"/>
            <a:ext cx="6461760" cy="4572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high-performance database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engineered for version-controlled, collaborative note taking with zero-cost content deduplication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Access Control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Role-Based Access Control.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Notebooks, Notes, Different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Editions.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Layers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Multilayered Content Version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Controlling.</a:t>
            </a:r>
          </a:p>
          <a:p>
            <a:pPr marL="457200" indent="-457200">
              <a:buAutoNum type="arabicPeriod"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&amp; Tracking: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Branching, Issues, Commits.</a:t>
            </a:r>
            <a:endPara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01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1: Users &amp; Permissions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Users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43434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</a:rPr>
              <a:t>Collaborator_Roles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88693" y="13716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4343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Access_Requests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0" y="25146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User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2526323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email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71600" y="25146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User name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981200" y="22098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smtClean="0">
                <a:solidFill>
                  <a:schemeClr val="tx1"/>
                </a:solidFill>
              </a:rPr>
              <a:t>Avatar </a:t>
            </a:r>
            <a:r>
              <a:rPr lang="en-US" sz="800" b="1" dirty="0" err="1" smtClean="0">
                <a:solidFill>
                  <a:schemeClr val="tx1"/>
                </a:solidFill>
              </a:rPr>
              <a:t>url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981200" y="1752600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Created at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981200" y="1295400"/>
            <a:ext cx="762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Is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active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5" idx="2"/>
            <a:endCxn id="10" idx="0"/>
          </p:cNvCxnSpPr>
          <p:nvPr/>
        </p:nvCxnSpPr>
        <p:spPr>
          <a:xfrm>
            <a:off x="990600" y="1981200"/>
            <a:ext cx="38100" cy="545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5" idx="2"/>
            <a:endCxn id="11" idx="0"/>
          </p:cNvCxnSpPr>
          <p:nvPr/>
        </p:nvCxnSpPr>
        <p:spPr>
          <a:xfrm>
            <a:off x="990600" y="1981200"/>
            <a:ext cx="7239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5" idx="2"/>
            <a:endCxn id="15" idx="1"/>
          </p:cNvCxnSpPr>
          <p:nvPr/>
        </p:nvCxnSpPr>
        <p:spPr>
          <a:xfrm>
            <a:off x="990600" y="1981200"/>
            <a:ext cx="1091033" cy="295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5" idx="2"/>
            <a:endCxn id="9" idx="0"/>
          </p:cNvCxnSpPr>
          <p:nvPr/>
        </p:nvCxnSpPr>
        <p:spPr>
          <a:xfrm flipH="1">
            <a:off x="342900" y="1981200"/>
            <a:ext cx="6477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5" idx="3"/>
            <a:endCxn id="16" idx="2"/>
          </p:cNvCxnSpPr>
          <p:nvPr/>
        </p:nvCxnSpPr>
        <p:spPr>
          <a:xfrm>
            <a:off x="1752600" y="1676400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5" idx="3"/>
            <a:endCxn id="17" idx="2"/>
          </p:cNvCxnSpPr>
          <p:nvPr/>
        </p:nvCxnSpPr>
        <p:spPr>
          <a:xfrm flipV="1">
            <a:off x="1752600" y="1524000"/>
            <a:ext cx="2286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823" y="5486400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capabilities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1290325" y="54864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Role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35" name="Oval 34"/>
          <p:cNvSpPr/>
          <p:nvPr/>
        </p:nvSpPr>
        <p:spPr>
          <a:xfrm>
            <a:off x="2057400" y="44196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Role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324600" y="1277815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created at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6311709" y="1900377"/>
            <a:ext cx="1117791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resource type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5257801" y="2297723"/>
            <a:ext cx="1053908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Resource_id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77000" y="4005385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Requested role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477001" y="4724400"/>
            <a:ext cx="9525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direction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812692" y="5300785"/>
            <a:ext cx="740507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status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4593493" y="5410200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Request_id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44" name="Straight Connector 43"/>
          <p:cNvCxnSpPr>
            <a:stCxn id="7" idx="2"/>
            <a:endCxn id="38" idx="0"/>
          </p:cNvCxnSpPr>
          <p:nvPr/>
        </p:nvCxnSpPr>
        <p:spPr>
          <a:xfrm>
            <a:off x="5050693" y="1981200"/>
            <a:ext cx="734062" cy="316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7" idx="3"/>
            <a:endCxn id="36" idx="2"/>
          </p:cNvCxnSpPr>
          <p:nvPr/>
        </p:nvCxnSpPr>
        <p:spPr>
          <a:xfrm flipV="1">
            <a:off x="5812693" y="1506415"/>
            <a:ext cx="511907" cy="169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" idx="3"/>
            <a:endCxn id="37" idx="2"/>
          </p:cNvCxnSpPr>
          <p:nvPr/>
        </p:nvCxnSpPr>
        <p:spPr>
          <a:xfrm>
            <a:off x="5812693" y="1676400"/>
            <a:ext cx="499016" cy="452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8" idx="3"/>
            <a:endCxn id="39" idx="2"/>
          </p:cNvCxnSpPr>
          <p:nvPr/>
        </p:nvCxnSpPr>
        <p:spPr>
          <a:xfrm flipV="1">
            <a:off x="6074508" y="4233985"/>
            <a:ext cx="402492" cy="41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8" idx="3"/>
            <a:endCxn id="40" idx="2"/>
          </p:cNvCxnSpPr>
          <p:nvPr/>
        </p:nvCxnSpPr>
        <p:spPr>
          <a:xfrm>
            <a:off x="6074508" y="4648200"/>
            <a:ext cx="402493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8" idx="2"/>
            <a:endCxn id="42" idx="0"/>
          </p:cNvCxnSpPr>
          <p:nvPr/>
        </p:nvCxnSpPr>
        <p:spPr>
          <a:xfrm flipH="1">
            <a:off x="5050693" y="4953000"/>
            <a:ext cx="12016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8" idx="2"/>
            <a:endCxn id="41" idx="0"/>
          </p:cNvCxnSpPr>
          <p:nvPr/>
        </p:nvCxnSpPr>
        <p:spPr>
          <a:xfrm>
            <a:off x="5170854" y="4953000"/>
            <a:ext cx="1012092" cy="34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6" idx="2"/>
            <a:endCxn id="33" idx="0"/>
          </p:cNvCxnSpPr>
          <p:nvPr/>
        </p:nvCxnSpPr>
        <p:spPr>
          <a:xfrm flipH="1">
            <a:off x="621323" y="4953000"/>
            <a:ext cx="369277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" idx="2"/>
            <a:endCxn id="34" idx="0"/>
          </p:cNvCxnSpPr>
          <p:nvPr/>
        </p:nvCxnSpPr>
        <p:spPr>
          <a:xfrm>
            <a:off x="990600" y="4953000"/>
            <a:ext cx="642625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" idx="3"/>
            <a:endCxn id="35" idx="2"/>
          </p:cNvCxnSpPr>
          <p:nvPr/>
        </p:nvCxnSpPr>
        <p:spPr>
          <a:xfrm>
            <a:off x="1752600" y="4648200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11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2: Organizing Content 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676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Notebooks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743200" y="1338385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description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743201" y="2057400"/>
            <a:ext cx="9525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visibility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078892" y="2633785"/>
            <a:ext cx="1045308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Notebook_id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59693" y="2743200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title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>
            <a:stCxn id="4" idx="3"/>
            <a:endCxn id="5" idx="2"/>
          </p:cNvCxnSpPr>
          <p:nvPr/>
        </p:nvCxnSpPr>
        <p:spPr>
          <a:xfrm flipV="1">
            <a:off x="2340708" y="1566985"/>
            <a:ext cx="402492" cy="41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3"/>
            <a:endCxn id="6" idx="2"/>
          </p:cNvCxnSpPr>
          <p:nvPr/>
        </p:nvCxnSpPr>
        <p:spPr>
          <a:xfrm>
            <a:off x="2340708" y="1981200"/>
            <a:ext cx="402493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2"/>
            <a:endCxn id="8" idx="0"/>
          </p:cNvCxnSpPr>
          <p:nvPr/>
        </p:nvCxnSpPr>
        <p:spPr>
          <a:xfrm flipH="1">
            <a:off x="1316893" y="2286000"/>
            <a:ext cx="12016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2"/>
            <a:endCxn id="7" idx="0"/>
          </p:cNvCxnSpPr>
          <p:nvPr/>
        </p:nvCxnSpPr>
        <p:spPr>
          <a:xfrm>
            <a:off x="1437054" y="2286000"/>
            <a:ext cx="1164492" cy="34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3400" y="4335585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3997570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Display 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order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2743201" y="4716585"/>
            <a:ext cx="9525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visibility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078892" y="5292970"/>
            <a:ext cx="740507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Note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59693" y="5402385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title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/>
          <p:cNvCxnSpPr>
            <a:stCxn id="14" idx="3"/>
            <a:endCxn id="15" idx="2"/>
          </p:cNvCxnSpPr>
          <p:nvPr/>
        </p:nvCxnSpPr>
        <p:spPr>
          <a:xfrm flipV="1">
            <a:off x="2340708" y="4226170"/>
            <a:ext cx="402492" cy="41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4" idx="3"/>
            <a:endCxn id="16" idx="2"/>
          </p:cNvCxnSpPr>
          <p:nvPr/>
        </p:nvCxnSpPr>
        <p:spPr>
          <a:xfrm>
            <a:off x="2340708" y="4640385"/>
            <a:ext cx="402493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2"/>
            <a:endCxn id="18" idx="0"/>
          </p:cNvCxnSpPr>
          <p:nvPr/>
        </p:nvCxnSpPr>
        <p:spPr>
          <a:xfrm flipH="1">
            <a:off x="1316893" y="4945185"/>
            <a:ext cx="12016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2"/>
            <a:endCxn id="17" idx="0"/>
          </p:cNvCxnSpPr>
          <p:nvPr/>
        </p:nvCxnSpPr>
        <p:spPr>
          <a:xfrm>
            <a:off x="1437054" y="4945185"/>
            <a:ext cx="1012092" cy="34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249616" y="1676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Editions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59416" y="1338385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Share code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59416" y="2057400"/>
            <a:ext cx="1236783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Is_standard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5795108" y="2633785"/>
            <a:ext cx="83429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Edition_id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575909" y="2743200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Edition_name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>
            <a:stCxn id="23" idx="3"/>
            <a:endCxn id="24" idx="2"/>
          </p:cNvCxnSpPr>
          <p:nvPr/>
        </p:nvCxnSpPr>
        <p:spPr>
          <a:xfrm flipV="1">
            <a:off x="6056924" y="1566985"/>
            <a:ext cx="402492" cy="41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3" idx="3"/>
            <a:endCxn id="25" idx="2"/>
          </p:cNvCxnSpPr>
          <p:nvPr/>
        </p:nvCxnSpPr>
        <p:spPr>
          <a:xfrm>
            <a:off x="6056924" y="1981200"/>
            <a:ext cx="402492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3" idx="2"/>
            <a:endCxn id="27" idx="0"/>
          </p:cNvCxnSpPr>
          <p:nvPr/>
        </p:nvCxnSpPr>
        <p:spPr>
          <a:xfrm flipH="1">
            <a:off x="5033109" y="2286000"/>
            <a:ext cx="12016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3" idx="2"/>
            <a:endCxn id="26" idx="0"/>
          </p:cNvCxnSpPr>
          <p:nvPr/>
        </p:nvCxnSpPr>
        <p:spPr>
          <a:xfrm>
            <a:off x="5153270" y="2286000"/>
            <a:ext cx="1058984" cy="34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267200" y="4343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Branches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6477000" y="4005385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Is_main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77000" y="4724400"/>
            <a:ext cx="1066799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Is_merged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5812692" y="5300785"/>
            <a:ext cx="816708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Branch_id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4593493" y="5410200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Branch_name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39" name="Straight Connector 38"/>
          <p:cNvCxnSpPr>
            <a:stCxn id="34" idx="3"/>
            <a:endCxn id="35" idx="2"/>
          </p:cNvCxnSpPr>
          <p:nvPr/>
        </p:nvCxnSpPr>
        <p:spPr>
          <a:xfrm flipV="1">
            <a:off x="6074508" y="4233985"/>
            <a:ext cx="402492" cy="41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4" idx="3"/>
            <a:endCxn id="36" idx="2"/>
          </p:cNvCxnSpPr>
          <p:nvPr/>
        </p:nvCxnSpPr>
        <p:spPr>
          <a:xfrm>
            <a:off x="6074508" y="4648200"/>
            <a:ext cx="402492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4" idx="2"/>
            <a:endCxn id="38" idx="0"/>
          </p:cNvCxnSpPr>
          <p:nvPr/>
        </p:nvCxnSpPr>
        <p:spPr>
          <a:xfrm flipH="1">
            <a:off x="5050693" y="4953000"/>
            <a:ext cx="12016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4" idx="2"/>
            <a:endCxn id="37" idx="0"/>
          </p:cNvCxnSpPr>
          <p:nvPr/>
        </p:nvCxnSpPr>
        <p:spPr>
          <a:xfrm>
            <a:off x="5170854" y="4953000"/>
            <a:ext cx="1050192" cy="34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8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3: The Content 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0823" y="17526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</a:rPr>
              <a:t>Logical_block_slots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52046" y="2895600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Lexorank</a:t>
            </a:r>
            <a:r>
              <a:rPr lang="en-US" sz="1000" b="1" dirty="0" smtClean="0">
                <a:solidFill>
                  <a:schemeClr val="tx1"/>
                </a:solidFill>
              </a:rPr>
              <a:t> key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492548" y="28956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block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8" name="Oval 7"/>
          <p:cNvSpPr/>
          <p:nvPr/>
        </p:nvSpPr>
        <p:spPr>
          <a:xfrm>
            <a:off x="2259623" y="18288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slot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>
            <a:stCxn id="5" idx="2"/>
            <a:endCxn id="6" idx="0"/>
          </p:cNvCxnSpPr>
          <p:nvPr/>
        </p:nvCxnSpPr>
        <p:spPr>
          <a:xfrm flipH="1">
            <a:off x="823546" y="2362200"/>
            <a:ext cx="369277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5" idx="2"/>
            <a:endCxn id="7" idx="0"/>
          </p:cNvCxnSpPr>
          <p:nvPr/>
        </p:nvCxnSpPr>
        <p:spPr>
          <a:xfrm>
            <a:off x="1192823" y="2362200"/>
            <a:ext cx="642625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3"/>
            <a:endCxn id="8" idx="2"/>
          </p:cNvCxnSpPr>
          <p:nvPr/>
        </p:nvCxnSpPr>
        <p:spPr>
          <a:xfrm>
            <a:off x="1954823" y="2057400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0" y="17526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</a:rPr>
              <a:t>Block_version_contents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633724" y="2895600"/>
            <a:ext cx="843275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created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at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828800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Version 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/>
          <p:cNvCxnSpPr>
            <a:stCxn id="12" idx="2"/>
            <a:endCxn id="14" idx="0"/>
          </p:cNvCxnSpPr>
          <p:nvPr/>
        </p:nvCxnSpPr>
        <p:spPr>
          <a:xfrm>
            <a:off x="5334000" y="2362200"/>
            <a:ext cx="721362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3"/>
            <a:endCxn id="15" idx="2"/>
          </p:cNvCxnSpPr>
          <p:nvPr/>
        </p:nvCxnSpPr>
        <p:spPr>
          <a:xfrm>
            <a:off x="6096000" y="2057400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37316" y="4517292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Content_BLOBs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4347116" y="4179277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SHA256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347117" y="4898292"/>
            <a:ext cx="9525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Content_text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682808" y="5474677"/>
            <a:ext cx="88919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Created at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463609" y="5584092"/>
            <a:ext cx="914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bytesize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stCxn id="22" idx="3"/>
            <a:endCxn id="23" idx="2"/>
          </p:cNvCxnSpPr>
          <p:nvPr/>
        </p:nvCxnSpPr>
        <p:spPr>
          <a:xfrm flipV="1">
            <a:off x="3944624" y="4407877"/>
            <a:ext cx="402492" cy="41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2" idx="3"/>
            <a:endCxn id="24" idx="2"/>
          </p:cNvCxnSpPr>
          <p:nvPr/>
        </p:nvCxnSpPr>
        <p:spPr>
          <a:xfrm>
            <a:off x="3944624" y="4822092"/>
            <a:ext cx="402493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2" idx="2"/>
            <a:endCxn id="26" idx="0"/>
          </p:cNvCxnSpPr>
          <p:nvPr/>
        </p:nvCxnSpPr>
        <p:spPr>
          <a:xfrm flipH="1">
            <a:off x="2920809" y="5126892"/>
            <a:ext cx="12016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2" idx="2"/>
            <a:endCxn id="25" idx="0"/>
          </p:cNvCxnSpPr>
          <p:nvPr/>
        </p:nvCxnSpPr>
        <p:spPr>
          <a:xfrm>
            <a:off x="3040970" y="5126892"/>
            <a:ext cx="1086434" cy="34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52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4: </a:t>
            </a:r>
            <a:r>
              <a:rPr lang="en-US" b="1" dirty="0" smtClean="0"/>
              <a:t>Collab &amp; </a:t>
            </a:r>
            <a:r>
              <a:rPr lang="en-US" b="1" dirty="0"/>
              <a:t>Changes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0823" y="17526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Issues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52046" y="2895600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title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492547" y="2895600"/>
            <a:ext cx="767075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7" name="Oval 6"/>
          <p:cNvSpPr/>
          <p:nvPr/>
        </p:nvSpPr>
        <p:spPr>
          <a:xfrm>
            <a:off x="2259623" y="18288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issue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4" idx="2"/>
            <a:endCxn id="5" idx="0"/>
          </p:cNvCxnSpPr>
          <p:nvPr/>
        </p:nvCxnSpPr>
        <p:spPr>
          <a:xfrm flipH="1">
            <a:off x="823546" y="2362200"/>
            <a:ext cx="369277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4" idx="2"/>
            <a:endCxn id="6" idx="0"/>
          </p:cNvCxnSpPr>
          <p:nvPr/>
        </p:nvCxnSpPr>
        <p:spPr>
          <a:xfrm>
            <a:off x="1192823" y="2362200"/>
            <a:ext cx="683262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3"/>
            <a:endCxn id="7" idx="2"/>
          </p:cNvCxnSpPr>
          <p:nvPr/>
        </p:nvCxnSpPr>
        <p:spPr>
          <a:xfrm>
            <a:off x="1954823" y="2057400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19600" y="18288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Issue_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Contributor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40823" y="2971800"/>
            <a:ext cx="11430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Issue id + </a:t>
            </a:r>
            <a:r>
              <a:rPr lang="en-US" sz="1000" b="1" dirty="0" err="1" smtClean="0">
                <a:solidFill>
                  <a:schemeClr val="tx1"/>
                </a:solidFill>
              </a:rPr>
              <a:t>contributorid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481325" y="2971800"/>
            <a:ext cx="685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block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15" name="Oval 14"/>
          <p:cNvSpPr/>
          <p:nvPr/>
        </p:nvSpPr>
        <p:spPr>
          <a:xfrm>
            <a:off x="6248400" y="1905000"/>
            <a:ext cx="10668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assigned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at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2" idx="2"/>
            <a:endCxn id="13" idx="0"/>
          </p:cNvCxnSpPr>
          <p:nvPr/>
        </p:nvCxnSpPr>
        <p:spPr>
          <a:xfrm flipH="1">
            <a:off x="4812323" y="2438400"/>
            <a:ext cx="369277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2"/>
            <a:endCxn id="14" idx="0"/>
          </p:cNvCxnSpPr>
          <p:nvPr/>
        </p:nvCxnSpPr>
        <p:spPr>
          <a:xfrm>
            <a:off x="5181600" y="2438400"/>
            <a:ext cx="642625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3"/>
            <a:endCxn id="15" idx="2"/>
          </p:cNvCxnSpPr>
          <p:nvPr/>
        </p:nvCxnSpPr>
        <p:spPr>
          <a:xfrm>
            <a:off x="5943600" y="2133600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10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5: Version Tracking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20096" y="2659184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Commits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529896" y="2321169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Commit_</a:t>
            </a:r>
          </a:p>
          <a:p>
            <a:r>
              <a:rPr lang="en-US" sz="1000" b="1" dirty="0" smtClean="0">
                <a:solidFill>
                  <a:schemeClr val="tx1"/>
                </a:solidFill>
              </a:rPr>
              <a:t>hash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529897" y="3040184"/>
            <a:ext cx="9525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Commit_id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865588" y="3616569"/>
            <a:ext cx="88919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Created at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828800" y="3725984"/>
            <a:ext cx="1938167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 smtClean="0">
                <a:solidFill>
                  <a:schemeClr val="tx1"/>
                </a:solidFill>
              </a:rPr>
              <a:t>Commit_message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5" idx="3"/>
            <a:endCxn id="6" idx="2"/>
          </p:cNvCxnSpPr>
          <p:nvPr/>
        </p:nvCxnSpPr>
        <p:spPr>
          <a:xfrm flipV="1">
            <a:off x="4127404" y="2549769"/>
            <a:ext cx="402492" cy="41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3"/>
            <a:endCxn id="7" idx="2"/>
          </p:cNvCxnSpPr>
          <p:nvPr/>
        </p:nvCxnSpPr>
        <p:spPr>
          <a:xfrm>
            <a:off x="4127404" y="2963984"/>
            <a:ext cx="402493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2"/>
            <a:endCxn id="9" idx="0"/>
          </p:cNvCxnSpPr>
          <p:nvPr/>
        </p:nvCxnSpPr>
        <p:spPr>
          <a:xfrm flipH="1">
            <a:off x="2797884" y="3268784"/>
            <a:ext cx="425866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2"/>
            <a:endCxn id="8" idx="0"/>
          </p:cNvCxnSpPr>
          <p:nvPr/>
        </p:nvCxnSpPr>
        <p:spPr>
          <a:xfrm>
            <a:off x="3223750" y="3268784"/>
            <a:ext cx="1086434" cy="34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02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1: Users &amp; Permissions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3716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Users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05600" y="1365738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</a:rPr>
              <a:t>Collaborator_Roles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56388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63946" y="5486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Access_Requests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2590800" y="13716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Granted_By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lowchart: Decision 8"/>
          <p:cNvSpPr/>
          <p:nvPr/>
        </p:nvSpPr>
        <p:spPr>
          <a:xfrm>
            <a:off x="2705100" y="2187331"/>
            <a:ext cx="1371600" cy="6858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Has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lowchart: Decision 9"/>
          <p:cNvSpPr/>
          <p:nvPr/>
        </p:nvSpPr>
        <p:spPr>
          <a:xfrm>
            <a:off x="1066800" y="3124200"/>
            <a:ext cx="1981200" cy="6858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Initiates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lowchart: Decision 10"/>
          <p:cNvSpPr/>
          <p:nvPr/>
        </p:nvSpPr>
        <p:spPr>
          <a:xfrm>
            <a:off x="3048000" y="3124200"/>
            <a:ext cx="1905000" cy="83380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reviews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lowchart: Decision 12"/>
          <p:cNvSpPr/>
          <p:nvPr/>
        </p:nvSpPr>
        <p:spPr>
          <a:xfrm>
            <a:off x="38100" y="3496406"/>
            <a:ext cx="1905000" cy="9231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Is_</a:t>
            </a:r>
          </a:p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subject_of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1143000" y="2057400"/>
            <a:ext cx="2590800" cy="1409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1752600" y="1975338"/>
            <a:ext cx="1447800" cy="3868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4" idx="3"/>
          </p:cNvCxnSpPr>
          <p:nvPr/>
        </p:nvCxnSpPr>
        <p:spPr>
          <a:xfrm flipH="1">
            <a:off x="1752600" y="1670538"/>
            <a:ext cx="1638300" cy="58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914400" y="2057400"/>
            <a:ext cx="1028700" cy="1409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609600" y="2057400"/>
            <a:ext cx="304800" cy="19006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5" idx="1"/>
          </p:cNvCxnSpPr>
          <p:nvPr/>
        </p:nvCxnSpPr>
        <p:spPr>
          <a:xfrm flipV="1">
            <a:off x="4343400" y="1670538"/>
            <a:ext cx="2362200" cy="82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5" idx="1"/>
          </p:cNvCxnSpPr>
          <p:nvPr/>
        </p:nvCxnSpPr>
        <p:spPr>
          <a:xfrm flipV="1">
            <a:off x="3886200" y="1670538"/>
            <a:ext cx="2819400" cy="859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3"/>
            <a:endCxn id="7" idx="0"/>
          </p:cNvCxnSpPr>
          <p:nvPr/>
        </p:nvCxnSpPr>
        <p:spPr>
          <a:xfrm>
            <a:off x="4953000" y="3541101"/>
            <a:ext cx="2514600" cy="1945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438400" y="3657600"/>
            <a:ext cx="4648200" cy="182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7" idx="1"/>
          </p:cNvCxnSpPr>
          <p:nvPr/>
        </p:nvCxnSpPr>
        <p:spPr>
          <a:xfrm>
            <a:off x="1428750" y="4191000"/>
            <a:ext cx="5135196" cy="160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Decision 39"/>
          <p:cNvSpPr/>
          <p:nvPr/>
        </p:nvSpPr>
        <p:spPr>
          <a:xfrm>
            <a:off x="2993570" y="5638800"/>
            <a:ext cx="2111829" cy="6858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Concerns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lowchart: Decision 40"/>
          <p:cNvSpPr/>
          <p:nvPr/>
        </p:nvSpPr>
        <p:spPr>
          <a:xfrm>
            <a:off x="6019800" y="3320559"/>
            <a:ext cx="2209800" cy="9231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Grants_</a:t>
            </a:r>
          </a:p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access_to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>
            <a:stCxn id="40" idx="1"/>
            <a:endCxn id="6" idx="3"/>
          </p:cNvCxnSpPr>
          <p:nvPr/>
        </p:nvCxnSpPr>
        <p:spPr>
          <a:xfrm flipH="1" flipV="1">
            <a:off x="1752600" y="5943600"/>
            <a:ext cx="124097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1"/>
          </p:cNvCxnSpPr>
          <p:nvPr/>
        </p:nvCxnSpPr>
        <p:spPr>
          <a:xfrm flipH="1">
            <a:off x="1828800" y="3782156"/>
            <a:ext cx="4191000" cy="18566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" idx="2"/>
            <a:endCxn id="41" idx="0"/>
          </p:cNvCxnSpPr>
          <p:nvPr/>
        </p:nvCxnSpPr>
        <p:spPr>
          <a:xfrm flipH="1">
            <a:off x="7124700" y="1975338"/>
            <a:ext cx="342900" cy="1345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0" idx="3"/>
            <a:endCxn id="7" idx="1"/>
          </p:cNvCxnSpPr>
          <p:nvPr/>
        </p:nvCxnSpPr>
        <p:spPr>
          <a:xfrm flipV="1">
            <a:off x="5105399" y="5791200"/>
            <a:ext cx="1458547" cy="190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4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2: Organizing Content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676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Notebooks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4335585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1676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Editions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67200" y="4343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Branches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484554" y="28194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Contain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8" idx="2"/>
            <a:endCxn id="5" idx="0"/>
          </p:cNvCxnSpPr>
          <p:nvPr/>
        </p:nvCxnSpPr>
        <p:spPr>
          <a:xfrm>
            <a:off x="1437054" y="3581400"/>
            <a:ext cx="0" cy="75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  <a:endCxn id="4" idx="2"/>
          </p:cNvCxnSpPr>
          <p:nvPr/>
        </p:nvCxnSpPr>
        <p:spPr>
          <a:xfrm flipV="1">
            <a:off x="1437054" y="22860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Decision 12"/>
          <p:cNvSpPr/>
          <p:nvPr/>
        </p:nvSpPr>
        <p:spPr>
          <a:xfrm>
            <a:off x="4151924" y="2803769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Defaults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3" idx="1"/>
          </p:cNvCxnSpPr>
          <p:nvPr/>
        </p:nvCxnSpPr>
        <p:spPr>
          <a:xfrm flipH="1">
            <a:off x="2389554" y="3184769"/>
            <a:ext cx="1762370" cy="11508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0"/>
            <a:endCxn id="6" idx="2"/>
          </p:cNvCxnSpPr>
          <p:nvPr/>
        </p:nvCxnSpPr>
        <p:spPr>
          <a:xfrm flipV="1">
            <a:off x="5104424" y="2286000"/>
            <a:ext cx="752230" cy="5177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Decision 20"/>
          <p:cNvSpPr/>
          <p:nvPr/>
        </p:nvSpPr>
        <p:spPr>
          <a:xfrm>
            <a:off x="504092" y="57150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Forked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From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828800" y="49530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219200" y="4953000"/>
            <a:ext cx="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Decision 25"/>
          <p:cNvSpPr/>
          <p:nvPr/>
        </p:nvSpPr>
        <p:spPr>
          <a:xfrm>
            <a:off x="2651368" y="16002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Has</a:t>
            </a:r>
          </a:p>
        </p:txBody>
      </p:sp>
      <p:cxnSp>
        <p:nvCxnSpPr>
          <p:cNvPr id="29" name="Straight Arrow Connector 28"/>
          <p:cNvCxnSpPr>
            <a:stCxn id="26" idx="2"/>
          </p:cNvCxnSpPr>
          <p:nvPr/>
        </p:nvCxnSpPr>
        <p:spPr>
          <a:xfrm flipH="1">
            <a:off x="1981200" y="2362200"/>
            <a:ext cx="1622668" cy="197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6" idx="3"/>
            <a:endCxn id="6" idx="1"/>
          </p:cNvCxnSpPr>
          <p:nvPr/>
        </p:nvCxnSpPr>
        <p:spPr>
          <a:xfrm>
            <a:off x="4556368" y="1981200"/>
            <a:ext cx="396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Decision 31"/>
          <p:cNvSpPr/>
          <p:nvPr/>
        </p:nvSpPr>
        <p:spPr>
          <a:xfrm>
            <a:off x="4218354" y="56388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Has</a:t>
            </a:r>
          </a:p>
        </p:txBody>
      </p:sp>
      <p:cxnSp>
        <p:nvCxnSpPr>
          <p:cNvPr id="34" name="Straight Arrow Connector 33"/>
          <p:cNvCxnSpPr>
            <a:stCxn id="32" idx="1"/>
          </p:cNvCxnSpPr>
          <p:nvPr/>
        </p:nvCxnSpPr>
        <p:spPr>
          <a:xfrm flipH="1" flipV="1">
            <a:off x="2340708" y="4953000"/>
            <a:ext cx="1877646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7" idx="2"/>
            <a:endCxn id="32" idx="0"/>
          </p:cNvCxnSpPr>
          <p:nvPr/>
        </p:nvCxnSpPr>
        <p:spPr>
          <a:xfrm>
            <a:off x="5170854" y="4953000"/>
            <a:ext cx="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2046" y="530173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Original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804567" y="520499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Fork</a:t>
            </a:r>
            <a:endParaRPr lang="en-US" dirty="0"/>
          </a:p>
        </p:txBody>
      </p:sp>
      <p:cxnSp>
        <p:nvCxnSpPr>
          <p:cNvPr id="40" name="Straight Arrow Connector 39"/>
          <p:cNvCxnSpPr>
            <a:stCxn id="26" idx="3"/>
            <a:endCxn id="6" idx="1"/>
          </p:cNvCxnSpPr>
          <p:nvPr/>
        </p:nvCxnSpPr>
        <p:spPr>
          <a:xfrm>
            <a:off x="4556368" y="1981200"/>
            <a:ext cx="3966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58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3: The Content 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400800" y="16002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</a:rPr>
              <a:t>Block_version_contents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2800" y="55626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Content_BLOBs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9870" y="16002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</a:rPr>
              <a:t>Logical_block_slots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lowchart: Decision 6"/>
          <p:cNvSpPr/>
          <p:nvPr/>
        </p:nvSpPr>
        <p:spPr>
          <a:xfrm>
            <a:off x="399370" y="32004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Nests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Under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3356708" y="16002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Has_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History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lowchart: Decision 8"/>
          <p:cNvSpPr/>
          <p:nvPr/>
        </p:nvSpPr>
        <p:spPr>
          <a:xfrm>
            <a:off x="5029200" y="3810000"/>
            <a:ext cx="19050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Stored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As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752600" y="2209800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143000" y="2209800"/>
            <a:ext cx="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648200" y="4495800"/>
            <a:ext cx="10668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1"/>
            <a:endCxn id="6" idx="3"/>
          </p:cNvCxnSpPr>
          <p:nvPr/>
        </p:nvCxnSpPr>
        <p:spPr>
          <a:xfrm flipH="1" flipV="1">
            <a:off x="2113870" y="1905000"/>
            <a:ext cx="1242838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3"/>
            <a:endCxn id="4" idx="1"/>
          </p:cNvCxnSpPr>
          <p:nvPr/>
        </p:nvCxnSpPr>
        <p:spPr>
          <a:xfrm flipV="1">
            <a:off x="5261708" y="1905000"/>
            <a:ext cx="1139092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4" idx="2"/>
          </p:cNvCxnSpPr>
          <p:nvPr/>
        </p:nvCxnSpPr>
        <p:spPr>
          <a:xfrm flipH="1">
            <a:off x="6172200" y="2209800"/>
            <a:ext cx="990600" cy="167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1555" y="269139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Parent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748692" y="26112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7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4: Collab &amp; Changes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65469" y="266700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Issues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8400" y="2762738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Issue_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Contributor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lowchart: Decision 5"/>
          <p:cNvSpPr/>
          <p:nvPr/>
        </p:nvSpPr>
        <p:spPr>
          <a:xfrm>
            <a:off x="3505200" y="2645507"/>
            <a:ext cx="21336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Assigned_by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2689469" y="3026507"/>
            <a:ext cx="81573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3"/>
            <a:endCxn id="5" idx="1"/>
          </p:cNvCxnSpPr>
          <p:nvPr/>
        </p:nvCxnSpPr>
        <p:spPr>
          <a:xfrm>
            <a:off x="5638800" y="3026507"/>
            <a:ext cx="609600" cy="41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09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</a:t>
            </a:r>
            <a:r>
              <a:rPr lang="en-US" b="1" dirty="0" smtClean="0"/>
              <a:t>5: Version Tracking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52600" y="2819400"/>
            <a:ext cx="180730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Commits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lowchart: Decision 4"/>
          <p:cNvSpPr/>
          <p:nvPr/>
        </p:nvSpPr>
        <p:spPr>
          <a:xfrm>
            <a:off x="5105400" y="2645507"/>
            <a:ext cx="21336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Precedes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429000" y="2743200"/>
            <a:ext cx="25908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559908" y="3200400"/>
            <a:ext cx="1926492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38600" y="339673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Parent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86200" y="24384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46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618</TotalTime>
  <Words>248</Words>
  <Application>Microsoft Office PowerPoint</Application>
  <PresentationFormat>On-screen Show (4:3)</PresentationFormat>
  <Paragraphs>138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Adjacency</vt:lpstr>
      <vt:lpstr>BookWorm</vt:lpstr>
      <vt:lpstr>Area 1: Users &amp; Permissions</vt:lpstr>
      <vt:lpstr>Area 2: Organizing Content </vt:lpstr>
      <vt:lpstr>Area 3: The Content </vt:lpstr>
      <vt:lpstr>Area 4: Collab &amp; Changes</vt:lpstr>
      <vt:lpstr>Area 5: Version Tracking</vt:lpstr>
      <vt:lpstr>Area 1: Users &amp; Permissions</vt:lpstr>
      <vt:lpstr>Area 2: Organizing Content</vt:lpstr>
      <vt:lpstr>Area 3: The Content </vt:lpstr>
      <vt:lpstr>Area 4: Collab &amp; Changes</vt:lpstr>
      <vt:lpstr>Area 5: Version Tracking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BookWorm</dc:title>
  <dc:creator>ismail - [2010]</dc:creator>
  <cp:lastModifiedBy>ismail - [2010]</cp:lastModifiedBy>
  <cp:revision>9</cp:revision>
  <dcterms:created xsi:type="dcterms:W3CDTF">2026-07-28T16:36:43Z</dcterms:created>
  <dcterms:modified xsi:type="dcterms:W3CDTF">2026-07-29T02:54:43Z</dcterms:modified>
</cp:coreProperties>
</file>